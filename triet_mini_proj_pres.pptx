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257" r:id="rId3"/>
    <p:sldId id="258" r:id="rId4"/>
    <p:sldId id="287" r:id="rId5"/>
    <p:sldId id="288" r:id="rId6"/>
    <p:sldId id="289" r:id="rId7"/>
    <p:sldId id="301" r:id="rId8"/>
    <p:sldId id="290" r:id="rId9"/>
    <p:sldId id="291" r:id="rId10"/>
    <p:sldId id="292" r:id="rId11"/>
    <p:sldId id="293" r:id="rId12"/>
    <p:sldId id="299" r:id="rId13"/>
    <p:sldId id="294" r:id="rId14"/>
    <p:sldId id="295" r:id="rId15"/>
    <p:sldId id="296" r:id="rId16"/>
    <p:sldId id="297" r:id="rId17"/>
    <p:sldId id="298" r:id="rId18"/>
    <p:sldId id="300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28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21" autoAdjust="0"/>
    <p:restoredTop sz="94643"/>
  </p:normalViewPr>
  <p:slideViewPr>
    <p:cSldViewPr snapToGrid="0">
      <p:cViewPr varScale="1">
        <p:scale>
          <a:sx n="115" d="100"/>
          <a:sy n="115" d="100"/>
        </p:scale>
        <p:origin x="5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6E736B-8672-52AD-E290-6EFB84CC8B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6D1B32-E660-3EF3-AD3E-10A246C78F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D252B-8FFC-41D9-83E3-82D9055E274B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55979-0165-C480-EF7D-339F99AE8E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44C20A-FC4F-315E-1053-2068A83CF83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EB6F1D-478F-4FC9-B0A9-32BB2D472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51000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4F93DB-F598-4886-A461-CC58A67B1F4E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CA51C0-35EC-40DE-A90E-AFABC085A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7161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081B4-B150-5DC3-17F3-274044162D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67918-3E37-1CC0-5B4B-198BE959F3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6A6B7-7474-EA60-D707-32A93F7AD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B0D41-F875-4FE1-9243-8E4CDE5ECAEE}" type="datetime1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EB263-B70A-C058-A498-B5F0F82BB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41061-C12D-CEE3-A343-2A7F6711B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79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1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B008E-15A5-ADA7-B761-591561B5D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9C6F0-86A8-979D-6844-E761F5392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E50BD-0049-9440-7CF9-91B2D06C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BED08-96DA-43E5-8F51-47C8AFBE3645}" type="datetime1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E7E23-796E-F2D3-6BE5-9167D0921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4F9B2-0D1C-8D7E-1C49-74CA25E19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717F0F-4EB2-3B90-4DA9-A97A8CE2AD7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21" y="6450448"/>
            <a:ext cx="883671" cy="17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065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6695B-2AF7-B5A0-780F-061154D64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08291-FC76-B87A-7D3D-E0E3057E8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07555-FD87-215A-D641-BC921AF9B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DEDE8-E2AB-4839-9571-39B720F0A509}" type="datetime1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64FBF-E4A9-391D-7217-ED18FDDB8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2CAC9-053D-C388-7E4E-0D9A44EEA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279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4C8A1-F17C-ABFF-BB98-294D64527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8C623-8B3A-5189-70C9-2DA8D3D557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BF2CE-27F5-E38E-F770-E94AC9DEBB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89B8B-7736-33E6-DEBE-D9A236688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2AAB7-9EC3-49E6-99AB-9ABC85F45F5B}" type="datetime1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25BD9-3A0B-1622-0B29-C9366A4B6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756E8-C6C2-2380-A3CD-70533F5F6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26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B87F3-7269-DF0F-6C13-986BF3ACF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7A9E4-4BDD-889C-B677-36D6643A7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25E7BD-A509-13BC-8307-ED2682F497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197920-BED7-D919-9CEC-1352B78F00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CF68BC-E8F2-1CE3-DFAC-FF75BBC40A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895A9E-B449-0ED3-0412-71514EE08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D24D6-7B91-45CB-8F1A-AADFCFF94965}" type="datetime1">
              <a:rPr lang="en-US" smtClean="0"/>
              <a:t>8/11/26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E124DF-7A2C-5B68-D5E5-5FFC351F0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AEAA0C-C7AF-D97B-5702-3EFD540E6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704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BDF6E-0CDE-6235-E14E-26CAEEB30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FF06B1-77AD-A61F-E78E-39712FAB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F96B2-86E9-4CC2-B7DD-BD1F8611080C}" type="datetime1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8017B6-A918-362F-26D1-29E90E2F9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42775-5E37-62B3-91BF-A9F232368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853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E04D18-F267-A975-6FF4-4DD52BA1D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4525D-3B22-4E71-925A-72D3748EEF13}" type="datetime1">
              <a:rPr lang="en-US" smtClean="0"/>
              <a:t>8/11/26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5F136E-B995-7C6E-DE35-63010E5A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E4EDD-B7C7-62E2-CD71-698379422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AE50D-9A60-24B5-F2DD-64655BAD9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274-1E45-EA88-5161-78753A7DD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3D11EA-3428-A93D-7D37-8DB8566AE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715CC0-260E-7153-4C8F-8BAA35DCC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FA17B-1B0F-4103-B0A5-C30B2F90B518}" type="datetime1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A9E5FA-B5F0-51A0-B4A3-44996A20C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2ED5C-4F29-D299-727B-C2E84F645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5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02C6E-672D-C250-53CC-A6415A4F4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0AE30F-B5CE-5623-CD59-D8C1BFAF5E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1F782-BDFF-49F6-23B5-ADB2A2C41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78D215-1A21-9872-5095-D9BBB9D1D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1CE5C-8840-4E13-AB8E-23C5B79E0296}" type="datetime1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97A05-3604-5016-5B42-8D7018D50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E1E948-751F-A988-2CF2-3776917E2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05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A8995-24A3-5EA9-7A32-633D0F732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66B875-6A20-D409-7C49-843D8D5C6F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37809-B1A7-C13D-9916-C5E5ECC7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BF191-C711-4034-AA6E-525C4CAFA662}" type="datetime1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888F2-E64F-3EBD-B4D1-257943DEB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7B631-D441-7ADB-7167-43D502D60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03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39DAA-F089-4630-C250-1797E3CA7D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CAA584-5EA7-8AD4-9DAC-755CE24FE0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23DEB-3D41-98B3-6C6C-F04A3337B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2F77B-01F3-4222-B790-BDEF5582124A}" type="datetime1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37239-9A18-AC4E-7EF6-D407B52B9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C7D1B-7B20-BA4A-5CC5-A116F797E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428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1E514E-BD62-DD32-003F-2BE760369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F0777-B6A6-4371-61AD-6F23A4684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2628E-1370-DCA2-1E37-9700381555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C90BD3-3416-400F-A243-8E2C6C1106C1}" type="datetime1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58031-4237-EFBE-91F5-190A4B667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4856D-2C08-8696-050F-CE4C9A24C1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FC02B8-7E49-434C-B049-FBEDD0394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105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atalog.data.gov/dataset/motor-vehicle-collisions-crashes?from_hint=eyJzb3J0IjoicG9wdWxhcml0eSJ9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1D574-E49E-469B-C26D-6329B772F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1819" y="3121464"/>
            <a:ext cx="9144000" cy="97631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York City</a:t>
            </a:r>
            <a:b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Motor Collision EDA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F12BF5-FF7A-D1A7-3AE2-3AB4AD439FF7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49" y="170491"/>
            <a:ext cx="1600170" cy="1274653"/>
          </a:xfrm>
          <a:prstGeom prst="rect">
            <a:avLst/>
          </a:prstGeom>
          <a:noFill/>
          <a:ln>
            <a:noFill/>
          </a:ln>
          <a:effectLst>
            <a:glow>
              <a:schemeClr val="accent1">
                <a:alpha val="40000"/>
              </a:schemeClr>
            </a:glow>
            <a:reflection stA="0" endPos="65000" dist="50800" dir="5400000" sy="-100000" algn="bl" rotWithShape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9323A5-56DF-6E3C-5828-16A9083A4FBB}"/>
              </a:ext>
            </a:extLst>
          </p:cNvPr>
          <p:cNvSpPr txBox="1"/>
          <p:nvPr/>
        </p:nvSpPr>
        <p:spPr>
          <a:xfrm>
            <a:off x="8720255" y="247650"/>
            <a:ext cx="3166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DSCI 261</a:t>
            </a:r>
          </a:p>
          <a:p>
            <a:pPr algn="r"/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Student: Võ Hoàng Minh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Triết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Tutor: Nguyễn Hoàng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Sỹ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HCMC, August 2026</a:t>
            </a:r>
          </a:p>
        </p:txBody>
      </p:sp>
    </p:spTree>
    <p:extLst>
      <p:ext uri="{BB962C8B-B14F-4D97-AF65-F5344CB8AC3E}">
        <p14:creationId xmlns:p14="http://schemas.microsoft.com/office/powerpoint/2010/main" val="2683208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8AA3-CFE4-61B4-9C76-9B5BDC43F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29F46-66FF-F78F-A310-785B7FA9E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this all about?</a:t>
            </a:r>
          </a:p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process</a:t>
            </a:r>
          </a:p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and policy insights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B0FAC9-46CA-AD5D-2280-F9C46744F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A2C9E-7D74-E96C-2D45-D09E9C67D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591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7A6B4-87E6-3573-415F-8CE59F9B9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this all about?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A0D4E-6AD6-4DC1-26AF-44E7F2F8B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832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Pretty self-explanatory, the data is about NYC Motor Collisions (motor vehicle crashes) from 2012 to 2026 </a:t>
            </a:r>
          </a:p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 can be found 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here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</a:t>
            </a:r>
            <a:r>
              <a:rPr lang="en-US" sz="18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catalog.data.gov</a:t>
            </a: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/dataset/</a:t>
            </a:r>
            <a:r>
              <a:rPr lang="en-US" sz="18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motor-vehicle-collisions-crashes?from_hint</a:t>
            </a:r>
            <a:r>
              <a:rPr lang="en-US" sz="18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=eyJzb3J0IjoicG9wdWxhcml0eSJ9</a:t>
            </a:r>
            <a:endParaRPr lang="en-US" sz="180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8CF8F-2820-43E1-A86B-287F5FD4A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7641FB-8F70-5D84-ABBF-2DBB16F3B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5EE4D0-58FF-A76D-E385-EE16378FE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363" y="3300418"/>
            <a:ext cx="6298580" cy="289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492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41CB3-D8E2-6B51-9CF6-F2947CAFA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F3D4F-E003-CA50-6DD1-0A0394F04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EAB78-B909-0E4E-E0E1-5E74D7999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832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It’s one hell of a mess!</a:t>
            </a:r>
            <a:endParaRPr lang="en-US" b="1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48C52E-44C3-7DD6-015B-8CFAC66ED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412228-4241-06C0-D2D9-9559228BF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7A8283-ADB3-133D-C154-DF0D2C8E7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680" y="1994650"/>
            <a:ext cx="8662639" cy="42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711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8A1C0-17FD-AE00-69AC-8E4DC15E2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BCE8E-E026-EBDB-A3BC-19FB77FDB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3816C-D4E8-8889-FA9E-709CFEE0B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832"/>
            <a:ext cx="7224132" cy="4351338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Let’s be systematic in our approach. We begin by examining the overall data structure. </a:t>
            </a:r>
          </a:p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90A27-EC72-F747-3250-9875B0308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524254-8D6B-B534-8087-A573B9AF1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ACF602-0663-F4E8-211D-37508B29F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1322" y="0"/>
            <a:ext cx="4424167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548C6E-3F91-7BD8-6CE1-A25EAFED9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100" y="2384170"/>
            <a:ext cx="6371597" cy="284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102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067FC-0DEA-05D6-C9C1-4443DCB5F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78CA1-0830-5190-F1B4-B7DE3DF6A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AF448-D259-5FC2-009F-E58D2097E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25832"/>
            <a:ext cx="10515599" cy="4351338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Let’s be systematic in our approach. We begin by examining the overall data structure. </a:t>
            </a:r>
          </a:p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687E69-CB20-010F-2D3D-6B03E00B9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CCF1F1-FEE7-AA78-CBA5-32516DBA3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237527-1350-12F6-7819-3E5BB1F01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596" y="2370136"/>
            <a:ext cx="2568003" cy="43513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14071B-6C57-9DF4-BB3C-8FA7B42FA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044" y="2370135"/>
            <a:ext cx="2617110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034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E9FA0-A101-7B54-C037-0DB5CBA22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B47C0-FE7B-D89D-85F3-986C602DF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01F62-C09D-7678-721B-782D95EA1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25832"/>
            <a:ext cx="10515599" cy="4351338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there is only 18 records with missing injuries and 0.3% records with missing casualties, we assume that those who are in charge of recording probably forgot to add such attributes in the database, and if there actually are casualties/injuries, he/she would not have forgotten, hence the decision to fill 0 into said missing values.</a:t>
            </a:r>
          </a:p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54E97E-C734-B30B-5022-0DDBEA82D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480817-FD12-A48E-232F-E4A7A892C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4E0E79-D0CA-C84C-9FBA-016BD2943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450" y="3502363"/>
            <a:ext cx="7109096" cy="303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074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6E0DC-6ABD-0F18-182C-93EE8BC28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8D99D-3C39-36DD-BA90-325EA9845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3AC0D-171C-3589-14C0-30C685266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25832"/>
            <a:ext cx="10515599" cy="4351338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missing boroughs with totally valid locations. Why is that?</a:t>
            </a:r>
          </a:p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8B390E-E7E1-A21A-F940-471D14D22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FDDEAD-D560-5AEF-D6EE-683F44D69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A8991B-113F-5D31-BA6C-1101EF360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882" y="1930446"/>
            <a:ext cx="6721509" cy="479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496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5A702-F08A-D35D-1E0C-F3A7C6FDB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D50C3-55DC-2F0B-D1C7-75681A742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90D7B-0D05-FA66-B125-9E242C866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25832"/>
            <a:ext cx="10515599" cy="4351338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order to fill in some missing boroughs, we need the help of some powerful tools, as well as NYC public data</a:t>
            </a:r>
          </a:p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1B9ABA-B619-6AFD-8C27-78A566B93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CEC88-9F47-02DE-BB81-DBE0C77E3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22A7E1-5770-D607-E182-6C2600791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389" y="2281495"/>
            <a:ext cx="7772400" cy="40080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7C4C20-9E11-9B46-1FC1-96645B58C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88" y="2281495"/>
            <a:ext cx="5262124" cy="400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43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62958-81B9-7768-08DA-3DE71B219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181-8835-B870-4B31-16AD777FA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3F1B9-AC69-8644-59CC-0DE1AA29A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25832"/>
            <a:ext cx="10515599" cy="4351338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result is around 2/3 of all borough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values are filled, allowing further analysis</a:t>
            </a:r>
          </a:p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06FE2C-430D-FC6F-DD3F-5668C0CFF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CDE26-9BA3-F692-C806-F9A2F8639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47CD34-FFE0-51F8-8F4A-FD14CFE5B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528" y="2620537"/>
            <a:ext cx="6559877" cy="315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667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CAAA5-BFED-6C88-B984-7963CE0F2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36A5-0897-F4F9-1408-43A102540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E832A-F84C-16BE-2D59-8079C86B8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25832"/>
            <a:ext cx="10515599" cy="4351338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Plotting the previous table, it is obvious that population has strong correlation to the number of collisions in the city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A2D1F-9CC9-7805-F6AE-0AA46E600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B4D39B-4B7F-5D3F-8D90-083B778E7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A03F9651-7C20-9837-67B0-A1BA7ED08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35602"/>
            <a:ext cx="7772400" cy="33196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DAD868-BD49-AA4D-906E-8D0010796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810" y="2614870"/>
            <a:ext cx="3200400" cy="3162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23A560-1882-1116-2DC2-D956AA32B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9301" y="4126"/>
            <a:ext cx="2991141" cy="143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104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2F7C0-D871-D2A1-88F6-8E18058DA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3A881-14BD-3F5F-4B7E-CCD9B7EEC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365BF-048E-84BF-A772-C7F4E71771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425832"/>
                <a:ext cx="10515599" cy="4351338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define Severe rate by:</a:t>
                </a:r>
              </a:p>
              <a:p>
                <a:pPr marL="0" indent="0">
                  <a:buNone/>
                </a:pPr>
                <a:endParaRPr lang="en-US" i="1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𝑛𝑢𝑚𝑏𝑒𝑟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𝑜𝑓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𝑝𝑒𝑟𝑠𝑜𝑛𝑠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𝑖𝑛𝑗𝑢𝑟𝑒𝑑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+ 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b="0" i="1" smtClean="0">
                                      <a:solidFill>
                                        <a:schemeClr val="tx2">
                                          <a:lumMod val="90000"/>
                                          <a:lumOff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b="0" i="1" smtClean="0">
                                      <a:solidFill>
                                        <a:schemeClr val="tx2">
                                          <a:lumMod val="90000"/>
                                          <a:lumOff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𝑛𝑢𝑚𝑏𝑒𝑟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2">
                                          <a:lumMod val="90000"/>
                                          <a:lumOff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2">
                                          <a:lumMod val="90000"/>
                                          <a:lumOff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𝑜𝑓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2">
                                          <a:lumMod val="90000"/>
                                          <a:lumOff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2">
                                          <a:lumMod val="90000"/>
                                          <a:lumOff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𝑝𝑒𝑟𝑠𝑜𝑛𝑠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2">
                                          <a:lumMod val="90000"/>
                                          <a:lumOff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2">
                                          <a:lumMod val="90000"/>
                                          <a:lumOff val="1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𝑘𝑖𝑙𝑙𝑒𝑑</m:t>
                                  </m:r>
                                </m:e>
                              </m:nary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𝑛𝑢𝑚𝑏𝑒𝑟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𝑜𝑓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𝑎𝑐𝑐𝑖𝑑𝑒𝑛𝑡𝑠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A365BF-048E-84BF-A772-C7F4E7177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25832"/>
                <a:ext cx="10515599" cy="4351338"/>
              </a:xfrm>
              <a:blipFill>
                <a:blip r:embed="rId2"/>
                <a:stretch>
                  <a:fillRect l="-1930" t="-232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AD1F1-FEED-F868-4EB7-B4FD97545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D51DD4-FC56-BC88-971D-D13648CE9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362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25D43-8D4C-099A-B70F-F26AF8B4C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B82A1-22BA-E236-DA5C-6A4858031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6253D-5DA0-933A-9B87-276848641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25832"/>
            <a:ext cx="10515599" cy="4351338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the aforementioned severe rate, we got the following table: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FC25E5-FE51-5113-335A-7CAC8B0A8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41242F-70E7-8D5B-68FF-A7F6DCFC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4923CB-DA71-2DB0-2278-63F1BDD79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093" y="1888665"/>
            <a:ext cx="6778081" cy="494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890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7DCDA-010A-AED6-C789-D5BAE890D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8B4D9-27C0-A337-2557-F30F6B54B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3CA36-981E-0D10-8E18-6E9FC3227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25832"/>
            <a:ext cx="4114801" cy="4351338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Surprisingly, Bronx has higher severity rate despite having less collisions than Brooklyn. Does this have anything to do with the average speed?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C87C70-BA82-D5AB-36C9-97CCFEAAC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855CFB-CDF0-FAE7-65E8-D5CC957C4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graph of the number of people in the united states&#10;&#10;AI-generated content may be incorrect.">
            <a:extLst>
              <a:ext uri="{FF2B5EF4-FFF2-40B4-BE49-F238E27FC236}">
                <a16:creationId xmlns:a16="http://schemas.microsoft.com/office/drawing/2014/main" id="{E21B0304-29B0-3593-2709-E05870835B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3812" y="1244104"/>
            <a:ext cx="7308188" cy="453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654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A3892-C4E1-2F19-4C50-71F1B249F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CCB00-AC32-2EE3-80C9-1358538AA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A524F-E4D4-B55C-7024-E3F3DA8DE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25832"/>
            <a:ext cx="10770221" cy="4351338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calculate percentage of injuries/casualties by boroughs as followed.</a:t>
            </a:r>
          </a:p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statistics makes sense since Manhattan is predominantly public transportation while Staten Island, Bronx, and Queens are more car-centric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7932D4-532B-33AB-BF6F-583F870D4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D8088F-8AE6-4C1D-EEEE-103B2D8D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24006C-C992-94FE-45D1-070825272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236" y="3338345"/>
            <a:ext cx="9450146" cy="2728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7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A02CD-B7A4-7BD1-9249-1E5637B15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7DC66-9F28-F7A2-C4EF-1B406ED26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8D0C6-8565-2DEF-338B-FCC0F31AA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25832"/>
            <a:ext cx="10770221" cy="4351338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Since there is around 9% of rows that have missing coordination, and even more with invalid coordination, we temporarily remove them for plotting purposes (we can’t plot a missing value, and we sure as hell don’t want to plot a value that is 3000km away from the city)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4A17C5-40AF-2BF5-9B38-66E51A0CF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176328-DC3A-F733-F33A-8771C2221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719ADD-EB7B-88FF-8BEB-53F043D1A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3132422"/>
            <a:ext cx="6972300" cy="952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903F70-8DD8-136B-F908-269800B0D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95" y="4149007"/>
            <a:ext cx="7772400" cy="16281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85F0DC-1E44-5745-1E5C-451A86E69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7753" y="3608672"/>
            <a:ext cx="2413000" cy="2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2777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B0B47-41B7-DE6B-1DDD-132834660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6DDDC-1DF6-3059-83CA-24F151E0F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F6C688-D7EB-1467-F1C9-D83D0664D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7D35F6-6A61-9800-588D-B5A49FA43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A map of the united states&#10;&#10;AI-generated content may be incorrect.">
            <a:extLst>
              <a:ext uri="{FF2B5EF4-FFF2-40B4-BE49-F238E27FC236}">
                <a16:creationId xmlns:a16="http://schemas.microsoft.com/office/drawing/2014/main" id="{59652567-12BB-6225-E2DF-260A6B20F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074" y="2300952"/>
            <a:ext cx="4270458" cy="40553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F754FA-D7C0-3F61-B685-2F7B206B2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089" y="1290584"/>
            <a:ext cx="3613185" cy="2902274"/>
          </a:xfrm>
          <a:prstGeom prst="rect">
            <a:avLst/>
          </a:prstGeom>
        </p:spPr>
      </p:pic>
      <p:pic>
        <p:nvPicPr>
          <p:cNvPr id="14" name="Picture 13" descr="A map of the united states&#10;&#10;AI-generated content may be incorrect.">
            <a:extLst>
              <a:ext uri="{FF2B5EF4-FFF2-40B4-BE49-F238E27FC236}">
                <a16:creationId xmlns:a16="http://schemas.microsoft.com/office/drawing/2014/main" id="{1E86B591-82B1-70FB-FA3E-7BB6DB95B5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6780" y="2142763"/>
            <a:ext cx="4400369" cy="4100189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8F9F101-C964-0E0E-C4E0-BDB6F344C3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6370696" y="124150"/>
            <a:ext cx="3407230" cy="342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79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64D3F-AF1F-7827-2E56-792250A28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ACDCC-5770-1401-FC98-049EA9486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1676FA-0ADC-E99C-4E52-58EC2BADE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3A9F31-4124-4B44-ED06-E85E34332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42D28F-5351-F27C-39F2-E9D587D61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115" y="2814909"/>
            <a:ext cx="7239000" cy="2705100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A2BD0AA-9465-37AD-275F-BC7A77E46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7203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It’s high time we performed feature engineering, or else ‘CRASH DATE’ and ‘CRASH TIME’ is going to be a waste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B19B337-29DA-D4C4-A5B6-4A8153CD3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5283" y="2814909"/>
            <a:ext cx="2095500" cy="229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093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62DAE-C7BC-C72A-3547-8B3EC0FCE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40B2A-46B2-41D5-50BB-BA535C675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C37F8E-DA96-A7C6-372C-182326407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9255EF-B1FE-F4D6-D0D1-E9468C58E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69E9080-E3A9-BE2A-5B19-F59342FB1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271"/>
            <a:ext cx="5819077" cy="4351338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fresh and ready chronological attributes, it is easier than ever to do even more plotting. Can you notice a pattern?</a:t>
            </a:r>
          </a:p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group of blue bars&#10;&#10;AI-generated content may be incorrect.">
            <a:extLst>
              <a:ext uri="{FF2B5EF4-FFF2-40B4-BE49-F238E27FC236}">
                <a16:creationId xmlns:a16="http://schemas.microsoft.com/office/drawing/2014/main" id="{852D7FE7-AFEE-8672-502F-23CAC1511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76" y="3012766"/>
            <a:ext cx="8056944" cy="32542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344304-317B-446D-1829-D0C60FAF8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277" y="140795"/>
            <a:ext cx="5110976" cy="287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650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292E7-4420-34DF-FEBA-FBEDB4CC8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D4A17-AAEF-852C-AA6F-F134C4C50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64DBAC-C178-9FFD-2F4E-D6F06EDF5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5230C-4C30-ADA8-6B94-CF983A6CA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US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7762A7E-9460-D1AA-2955-1C6E3F745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7203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 let's build for ourselves a useful prediction model. Assuming a location/date/time is known, what are the chances of that particular crash has high severity? (let's define severity as number of injured/death as of moment)</a:t>
            </a:r>
          </a:p>
        </p:txBody>
      </p:sp>
    </p:spTree>
    <p:extLst>
      <p:ext uri="{BB962C8B-B14F-4D97-AF65-F5344CB8AC3E}">
        <p14:creationId xmlns:p14="http://schemas.microsoft.com/office/powerpoint/2010/main" val="1659470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30A5A-76DD-CA2C-6601-193C85302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E5EE5-3848-94F8-640A-6E0277F53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9F359-F976-32ED-3F2B-2CB9BE6B6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5BF311-D65D-AC40-DE22-5C784C5D4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US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2EE9CE6-DBA9-6CF8-8E60-92FF3F099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7203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 cyclic time features (Hour, Month, Day of Week) into 2D coordinates on a clock face using sine and cosine transformations.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1D6877-C771-A35A-A7BA-30CB7B982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410" y="2855003"/>
            <a:ext cx="5982190" cy="201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184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65696-E55A-F7DA-0698-2A11D7920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B1196-3033-222E-22B1-B69F5C8CC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A616F6-A873-587B-025F-A0A5373BE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524310-D636-F3DA-BA0D-17F76A50A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en-US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4685D8-12DF-C2DE-8DF6-E63893DD0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7203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we select only attributes that we require for the prediction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6BFA1B-3790-07BF-50FE-31E59F574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171" y="2381912"/>
            <a:ext cx="7772400" cy="3478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96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A4C85-4768-E43B-F71E-1A526DAE5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313D3-0467-2980-887A-5D771042A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F2AF19-16A9-E6A5-AF73-20807B524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F005F8-C6A3-4AB2-14B3-59B2080B8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 lang="en-US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EF0CEA0-BC02-9576-3EBB-6EE0EFFC9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7203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invalid coordination records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AC48F3-162E-3DD2-0B63-4927F8324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741" y="2528586"/>
            <a:ext cx="7921940" cy="339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3073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F3F37-AC69-4CE0-39F6-792F39783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01680-F962-B624-0364-B9CBDABDC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DF309A-33D1-0629-A090-4E8A0B75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2420D-0693-3561-C2D4-F943EE3C4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fld>
            <a:endParaRPr lang="en-US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F0B38E74-11FD-FFB0-8E3A-A8D75C197A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7633"/>
                <a:ext cx="10515600" cy="4351338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tx2">
                        <a:lumMod val="90000"/>
                        <a:lumOff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binary prediction, we define SEVERITY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1, 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𝑖𝑓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𝑡h𝑒𝑟𝑒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𝑖𝑠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𝑎𝑡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𝑙𝑒𝑎𝑠𝑡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𝑜𝑛𝑒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𝑖𝑛𝑗𝑢𝑟𝑦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𝑐𝑎𝑠𝑢𝑎𝑙𝑡𝑦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0 </m:t>
                              </m:r>
                              <m:r>
                                <a:rPr lang="en-US" b="0" i="1" smtClean="0">
                                  <a:solidFill>
                                    <a:schemeClr val="tx2">
                                      <a:lumMod val="90000"/>
                                      <a:lumOff val="1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𝑜𝑡h𝑒𝑟𝑤𝑖𝑠𝑒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F0B38E74-11FD-FFB0-8E3A-A8D75C197A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7633"/>
                <a:ext cx="10515600" cy="4351338"/>
              </a:xfrm>
              <a:blipFill>
                <a:blip r:embed="rId2"/>
                <a:stretch>
                  <a:fillRect l="-1086" t="-42274" b="-291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BDCDED2-8444-18B6-784D-76AD19CDA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825" y="3022060"/>
            <a:ext cx="7772400" cy="467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498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BB27F-0F24-2ACD-18EE-98ADACB37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324E8-E91A-C2B7-5C34-183CC15B3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9850C-A006-171D-6CFE-8F56B7950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2BC61-FDEC-E7A7-0640-A1D44DBDD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fld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6D9A281-79D6-9E73-347C-E8F1C6FF8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633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part is rather straightforward using powerful Python library: Scikit-learn. We will apply K-nearest neighbors and Logistic Regression for demonstrative purpose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C12DDC-981A-3E07-DAD5-848944529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005042"/>
            <a:ext cx="67818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082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5C308-48B1-176B-50F0-8CD286369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99E32-A46B-16E9-8B76-9551C09D1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A53F9B-90F0-4ED0-4DF0-721344C89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AF5F42-1E77-6112-EA9F-43FE2D87B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fld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BCD1475-2E20-6AD4-7721-F8C159404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633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part is rather straightforward using powerful Python library: Scikit-learn. We will apply K-nearest neighbors and Logistic Regression for demonstrative purpose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3BEAC7-7DD3-C809-808D-475296A58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005042"/>
            <a:ext cx="67818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6396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B2765-1F75-81B1-E43A-D4BF05613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1677E-D3C6-35DA-78CA-F4C98B866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E6097A-8491-2123-F346-F4DDB414A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09BBE7-908D-D70D-9F29-F23378CB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fld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58517AA-6632-765D-27F9-4123C16BE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633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Turns out both models are equally bad (one with horrendous positive F1-score and one with slightly less horrendous F1-score but worse negative F1-score), but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guess that's it for demonstration process.</a:t>
            </a:r>
          </a:p>
          <a:p>
            <a:pPr marL="0" indent="0">
              <a:buNone/>
            </a:pPr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comparison of a blue and white chart&#10;&#10;AI-generated content may be incorrect.">
            <a:extLst>
              <a:ext uri="{FF2B5EF4-FFF2-40B4-BE49-F238E27FC236}">
                <a16:creationId xmlns:a16="http://schemas.microsoft.com/office/drawing/2014/main" id="{D9D307EE-4D12-AD48-8ABE-4F5F06F30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498" y="2870708"/>
            <a:ext cx="7772400" cy="3293089"/>
          </a:xfrm>
          <a:prstGeom prst="rect">
            <a:avLst/>
          </a:prstGeom>
        </p:spPr>
      </p:pic>
      <p:pic>
        <p:nvPicPr>
          <p:cNvPr id="9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CF2E340-10D5-8616-A9B2-A400744320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2870708"/>
            <a:ext cx="3432718" cy="264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8458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DAA74-254E-018C-40DB-6EF9C8D57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0B78C-3872-C13F-B011-1B0F817F9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and policy insights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EFC65D-178C-A335-10A8-DD7B9B3AB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B3905A-6950-4285-CF88-2F6C17AC8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fld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81720A2-7059-365E-9884-6496EF1C8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633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Borough-specific traffic safety interventions based on victim profile distribution. </a:t>
            </a:r>
          </a:p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improvements for spatial recording and street-level metadata. </a:t>
            </a:r>
          </a:p>
          <a:p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857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3E786-8680-D13F-7420-B6922D989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E8CAD0-93EC-D6D4-764E-E15F66DAE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F6EC1B-4F9F-775F-6878-336787682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C02B8-7E49-434C-B049-FBEDD03949E8}" type="slidenum">
              <a:rPr lang="en-US" smtClean="0"/>
              <a:t>29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465F814-6958-B6D9-E693-DA4503CFC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634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End~!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D2D585-1806-80C9-7D19-63052C7A0D4B}"/>
              </a:ext>
            </a:extLst>
          </p:cNvPr>
          <p:cNvSpPr txBox="1"/>
          <p:nvPr/>
        </p:nvSpPr>
        <p:spPr>
          <a:xfrm>
            <a:off x="5562600" y="323868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65503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743</Words>
  <Application>Microsoft Macintosh PowerPoint</Application>
  <PresentationFormat>Widescreen</PresentationFormat>
  <Paragraphs>99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Aptos</vt:lpstr>
      <vt:lpstr>Aptos Display</vt:lpstr>
      <vt:lpstr>Arial</vt:lpstr>
      <vt:lpstr>Cambria Math</vt:lpstr>
      <vt:lpstr>Times New Roman</vt:lpstr>
      <vt:lpstr>Office Theme</vt:lpstr>
      <vt:lpstr>New York City Motor Collision EDA</vt:lpstr>
      <vt:lpstr>Contents</vt:lpstr>
      <vt:lpstr>What is this all about?</vt:lpstr>
      <vt:lpstr>Data cleaning process</vt:lpstr>
      <vt:lpstr>Data cleaning process</vt:lpstr>
      <vt:lpstr>Data cleaning process</vt:lpstr>
      <vt:lpstr>Data cleaning process</vt:lpstr>
      <vt:lpstr>Data cleaning process</vt:lpstr>
      <vt:lpstr>Data cleaning process</vt:lpstr>
      <vt:lpstr>Data cleaning process</vt:lpstr>
      <vt:lpstr>Data visualization</vt:lpstr>
      <vt:lpstr>Data visualization</vt:lpstr>
      <vt:lpstr>Data visualization</vt:lpstr>
      <vt:lpstr>Data visualization</vt:lpstr>
      <vt:lpstr>Data visualization</vt:lpstr>
      <vt:lpstr>Data visualization</vt:lpstr>
      <vt:lpstr>Data visualization</vt:lpstr>
      <vt:lpstr>Data visualization</vt:lpstr>
      <vt:lpstr>Data visualization</vt:lpstr>
      <vt:lpstr>Model training</vt:lpstr>
      <vt:lpstr>Model training</vt:lpstr>
      <vt:lpstr>Model training</vt:lpstr>
      <vt:lpstr>Model training</vt:lpstr>
      <vt:lpstr>Model training</vt:lpstr>
      <vt:lpstr>Model training</vt:lpstr>
      <vt:lpstr>Model training</vt:lpstr>
      <vt:lpstr>Model training</vt:lpstr>
      <vt:lpstr>Recommendations and policy insights</vt:lpstr>
      <vt:lpstr>The End~!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trie</dc:creator>
  <cp:lastModifiedBy>Triet Vo</cp:lastModifiedBy>
  <cp:revision>338</cp:revision>
  <dcterms:created xsi:type="dcterms:W3CDTF">2026-07-20T12:46:34Z</dcterms:created>
  <dcterms:modified xsi:type="dcterms:W3CDTF">2026-08-11T03:01:13Z</dcterms:modified>
</cp:coreProperties>
</file>